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fbbf185cd41cb" /><Relationship Type="http://schemas.openxmlformats.org/officeDocument/2006/relationships/extended-properties" Target="/docProps/app.xml" Id="R7c4f3f9389cb431f" /><Relationship Type="http://schemas.openxmlformats.org/officeDocument/2006/relationships/officeDocument" Target="/ppt/presentation.xml" Id="Rd0f42af8bfb547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25082f6dbb411e"/>
  </p:sldMasterIdLst>
  <p:notesMasterIdLst>
    <p:notesMasterId xmlns:r="http://schemas.openxmlformats.org/officeDocument/2006/relationships" r:id="R862afa43408e4129"/>
  </p:notesMasterIdLst>
  <p:sldIdLst>
    <p:sldId xmlns:r="http://schemas.openxmlformats.org/officeDocument/2006/relationships" id="256" r:id="R3541d152602c4adf"/>
    <p:sldId xmlns:r="http://schemas.openxmlformats.org/officeDocument/2006/relationships" id="257" r:id="R33dc23edece34894"/>
    <p:sldId xmlns:r="http://schemas.openxmlformats.org/officeDocument/2006/relationships" id="258" r:id="R00059dbce00d4a33"/>
    <p:sldId xmlns:r="http://schemas.openxmlformats.org/officeDocument/2006/relationships" id="259" r:id="Rd4d1035234ac4130"/>
    <p:sldId xmlns:r="http://schemas.openxmlformats.org/officeDocument/2006/relationships" id="260" r:id="Re1e60b7a73b448fc"/>
    <p:sldId xmlns:r="http://schemas.openxmlformats.org/officeDocument/2006/relationships" id="261" r:id="R6a2e032219894ce6"/>
    <p:sldId xmlns:r="http://schemas.openxmlformats.org/officeDocument/2006/relationships" id="262" r:id="Rf9faed6badf84806"/>
    <p:sldId xmlns:r="http://schemas.openxmlformats.org/officeDocument/2006/relationships" id="263" r:id="R1a9ff7b862a949cb"/>
    <p:sldId xmlns:r="http://schemas.openxmlformats.org/officeDocument/2006/relationships" id="264" r:id="Rb8ae6d965fe341e7"/>
    <p:sldId xmlns:r="http://schemas.openxmlformats.org/officeDocument/2006/relationships" id="265" r:id="R324387f61b054434"/>
    <p:sldId xmlns:r="http://schemas.openxmlformats.org/officeDocument/2006/relationships" id="266" r:id="R55d5b165424b4a75"/>
    <p:sldId xmlns:r="http://schemas.openxmlformats.org/officeDocument/2006/relationships" id="267" r:id="R006b57926e7d4720"/>
    <p:sldId xmlns:r="http://schemas.openxmlformats.org/officeDocument/2006/relationships" id="268" r:id="R29988692572f480a"/>
    <p:sldId xmlns:r="http://schemas.openxmlformats.org/officeDocument/2006/relationships" id="269" r:id="Rafdced6018cd4fe0"/>
    <p:sldId xmlns:r="http://schemas.openxmlformats.org/officeDocument/2006/relationships" id="270" r:id="R4adaa7e7b35147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8af3110f2649fa" /><Relationship Type="http://schemas.openxmlformats.org/officeDocument/2006/relationships/slideMaster" Target="/ppt/slideMasters/slideMaster1.xml" Id="R9425082f6dbb411e" /><Relationship Type="http://schemas.openxmlformats.org/officeDocument/2006/relationships/notesMaster" Target="/ppt/notesMasters/notesMaster1.xml" Id="R862afa43408e4129" /><Relationship Type="http://schemas.openxmlformats.org/officeDocument/2006/relationships/presProps" Target="/ppt/presProps.xml" Id="Rbbe18b2ebbf64157" /><Relationship Type="http://schemas.openxmlformats.org/officeDocument/2006/relationships/tableStyles" Target="/ppt/tableStyles.xml" Id="Rc9f74bf97f89431b" /><Relationship Type="http://schemas.openxmlformats.org/officeDocument/2006/relationships/slide" Target="/ppt/slides/slide1.xml" Id="R3541d152602c4adf" /><Relationship Type="http://schemas.openxmlformats.org/officeDocument/2006/relationships/slide" Target="/ppt/slides/slide2.xml" Id="R33dc23edece34894" /><Relationship Type="http://schemas.openxmlformats.org/officeDocument/2006/relationships/slide" Target="/ppt/slides/slide3.xml" Id="R00059dbce00d4a33" /><Relationship Type="http://schemas.openxmlformats.org/officeDocument/2006/relationships/slide" Target="/ppt/slides/slide4.xml" Id="Rd4d1035234ac4130" /><Relationship Type="http://schemas.openxmlformats.org/officeDocument/2006/relationships/slide" Target="/ppt/slides/slide5.xml" Id="Re1e60b7a73b448fc" /><Relationship Type="http://schemas.openxmlformats.org/officeDocument/2006/relationships/slide" Target="/ppt/slides/slide6.xml" Id="R6a2e032219894ce6" /><Relationship Type="http://schemas.openxmlformats.org/officeDocument/2006/relationships/slide" Target="/ppt/slides/slide7.xml" Id="Rf9faed6badf84806" /><Relationship Type="http://schemas.openxmlformats.org/officeDocument/2006/relationships/slide" Target="/ppt/slides/slide8.xml" Id="R1a9ff7b862a949cb" /><Relationship Type="http://schemas.openxmlformats.org/officeDocument/2006/relationships/slide" Target="/ppt/slides/slide9.xml" Id="Rb8ae6d965fe341e7" /><Relationship Type="http://schemas.openxmlformats.org/officeDocument/2006/relationships/slide" Target="/ppt/slides/slide10.xml" Id="R324387f61b054434" /><Relationship Type="http://schemas.openxmlformats.org/officeDocument/2006/relationships/slide" Target="/ppt/slides/slide11.xml" Id="R55d5b165424b4a75" /><Relationship Type="http://schemas.openxmlformats.org/officeDocument/2006/relationships/slide" Target="/ppt/slides/slide12.xml" Id="R006b57926e7d4720" /><Relationship Type="http://schemas.openxmlformats.org/officeDocument/2006/relationships/slide" Target="/ppt/slides/slide13.xml" Id="R29988692572f480a" /><Relationship Type="http://schemas.openxmlformats.org/officeDocument/2006/relationships/slide" Target="/ppt/slides/slide14.xml" Id="Rafdced6018cd4fe0" /><Relationship Type="http://schemas.openxmlformats.org/officeDocument/2006/relationships/slide" Target="/ppt/slides/slide15.xml" Id="R4adaa7e7b35147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8c3f7bd54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be15f4527d452b" /><Relationship Type="http://schemas.openxmlformats.org/officeDocument/2006/relationships/notesMaster" Target="/ppt/notesMasters/notesMaster1.xml" Id="R206eb8d6604344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90c5d7113b4798" /><Relationship Type="http://schemas.openxmlformats.org/officeDocument/2006/relationships/notesMaster" Target="/ppt/notesMasters/notesMaster1.xml" Id="Rf5742bf4386643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f60b14e93d4986" /><Relationship Type="http://schemas.openxmlformats.org/officeDocument/2006/relationships/notesMaster" Target="/ppt/notesMasters/notesMaster1.xml" Id="Rf35180772087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395e081904359" /><Relationship Type="http://schemas.openxmlformats.org/officeDocument/2006/relationships/notesMaster" Target="/ppt/notesMasters/notesMaster1.xml" Id="R585cf9f1f2ed47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fa9610197b4beb" /><Relationship Type="http://schemas.openxmlformats.org/officeDocument/2006/relationships/notesMaster" Target="/ppt/notesMasters/notesMaster1.xml" Id="R0c10e5c4d1b14f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a5b524f5c4be1" /><Relationship Type="http://schemas.openxmlformats.org/officeDocument/2006/relationships/notesMaster" Target="/ppt/notesMasters/notesMaster1.xml" Id="Ra6619c7bd20b41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b5c2cdd7664ded" /><Relationship Type="http://schemas.openxmlformats.org/officeDocument/2006/relationships/notesMaster" Target="/ppt/notesMasters/notesMaster1.xml" Id="R7caad441b32442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0b50bf252a43ea" /><Relationship Type="http://schemas.openxmlformats.org/officeDocument/2006/relationships/notesMaster" Target="/ppt/notesMasters/notesMaster1.xml" Id="R7f06abe2e6a44b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e901ad20954e7a" /><Relationship Type="http://schemas.openxmlformats.org/officeDocument/2006/relationships/notesMaster" Target="/ppt/notesMasters/notesMaster1.xml" Id="R0e1b0a32614d4e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350732d88241f4" /><Relationship Type="http://schemas.openxmlformats.org/officeDocument/2006/relationships/notesMaster" Target="/ppt/notesMasters/notesMaster1.xml" Id="R472d174205b746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df71720dae4d5c" /><Relationship Type="http://schemas.openxmlformats.org/officeDocument/2006/relationships/notesMaster" Target="/ppt/notesMasters/notesMaster1.xml" Id="Rd0ee6ec7934a42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68c83cb8e14a81" /><Relationship Type="http://schemas.openxmlformats.org/officeDocument/2006/relationships/notesMaster" Target="/ppt/notesMasters/notesMaster1.xml" Id="Rbda43cb4e2ba45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bc4e3e44654714" /><Relationship Type="http://schemas.openxmlformats.org/officeDocument/2006/relationships/notesMaster" Target="/ppt/notesMasters/notesMaster1.xml" Id="R9265193c35924d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ca5998b5e44dda" /><Relationship Type="http://schemas.openxmlformats.org/officeDocument/2006/relationships/notesMaster" Target="/ppt/notesMasters/notesMaster1.xml" Id="Rf881c628f8ba48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553315320842dd" /><Relationship Type="http://schemas.openxmlformats.org/officeDocument/2006/relationships/notesMaster" Target="/ppt/notesMasters/notesMaster1.xml" Id="R708acb1a102b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0d7b9dbc2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2bf266f73e48cf" /><Relationship Type="http://schemas.openxmlformats.org/officeDocument/2006/relationships/slideLayout" Target="/ppt/slideLayouts/slideLayout1.xml" Id="Rac2634c7a41d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2634c7a41d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5bb8f6c0e4dd5" /><Relationship Type="http://schemas.openxmlformats.org/officeDocument/2006/relationships/image" Target="/ppt/media/image.png" Id="Rf642129f3b7d4cca" /><Relationship Type="http://schemas.openxmlformats.org/officeDocument/2006/relationships/image" Target="/ppt/media/image2.png" Id="Rd3d4dd9b2ada45d1" /><Relationship Type="http://schemas.openxmlformats.org/officeDocument/2006/relationships/notesSlide" Target="/ppt/notesSlides/notesSlide1.xml" Id="R3c134d84e6744d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f4ead70ed4a35" /><Relationship Type="http://schemas.openxmlformats.org/officeDocument/2006/relationships/notesSlide" Target="/ppt/notesSlides/notesSlide2.xml" Id="Reb345fd58f1b45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80db329f349f0" /><Relationship Type="http://schemas.openxmlformats.org/officeDocument/2006/relationships/notesSlide" Target="/ppt/notesSlides/notesSlide3.xml" Id="Rc585a0c6508440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54359a55944b6" /><Relationship Type="http://schemas.openxmlformats.org/officeDocument/2006/relationships/image" Target="/ppt/media/image3.png" Id="Rd37bdbb8939f4efa" /><Relationship Type="http://schemas.openxmlformats.org/officeDocument/2006/relationships/notesSlide" Target="/ppt/notesSlides/notesSlide4.xml" Id="Ra697f837426c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deef608c143bc" /><Relationship Type="http://schemas.openxmlformats.org/officeDocument/2006/relationships/image" Target="/ppt/media/image4.png" Id="R9844700ece3e4501" /><Relationship Type="http://schemas.openxmlformats.org/officeDocument/2006/relationships/notesSlide" Target="/ppt/notesSlides/notesSlide5.xml" Id="Rf40134b7d4b545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44f7af96741c9" /><Relationship Type="http://schemas.openxmlformats.org/officeDocument/2006/relationships/image" Target="/ppt/media/image5.png" Id="R6b9f28fb6dd64ae4" /><Relationship Type="http://schemas.openxmlformats.org/officeDocument/2006/relationships/image" Target="/ppt/media/image6.png" Id="Rf9713aeb064541f0" /><Relationship Type="http://schemas.openxmlformats.org/officeDocument/2006/relationships/notesSlide" Target="/ppt/notesSlides/notesSlide6.xml" Id="R0fcf432c93524a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1d4e0bfeb439d" /><Relationship Type="http://schemas.openxmlformats.org/officeDocument/2006/relationships/image" Target="/ppt/media/image7.png" Id="R3c8bcd48840e4a1f" /><Relationship Type="http://schemas.openxmlformats.org/officeDocument/2006/relationships/notesSlide" Target="/ppt/notesSlides/notesSlide7.xml" Id="R9508af33a60b49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997b4f0de4ae5" /><Relationship Type="http://schemas.openxmlformats.org/officeDocument/2006/relationships/image" Target="/ppt/media/image8.png" Id="R310c6ee835274e6a" /><Relationship Type="http://schemas.openxmlformats.org/officeDocument/2006/relationships/notesSlide" Target="/ppt/notesSlides/notesSlide8.xml" Id="Rbadc86ae43414c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86257df9b4460" /><Relationship Type="http://schemas.openxmlformats.org/officeDocument/2006/relationships/image" Target="/ppt/media/image9.png" Id="Rb6b6cd0b79544cc6" /><Relationship Type="http://schemas.openxmlformats.org/officeDocument/2006/relationships/notesSlide" Target="/ppt/notesSlides/notesSlide9.xml" Id="Rc6f4de0e5f3a48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f6b6678c543a8" /><Relationship Type="http://schemas.openxmlformats.org/officeDocument/2006/relationships/image" Target="/ppt/media/image10.png" Id="Rc1276e6aacd24c3c" /><Relationship Type="http://schemas.openxmlformats.org/officeDocument/2006/relationships/notesSlide" Target="/ppt/notesSlides/notesSlide10.xml" Id="R0a79ccada75042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c313036dc4d3f" /><Relationship Type="http://schemas.openxmlformats.org/officeDocument/2006/relationships/image" Target="/ppt/media/image11.png" Id="R412366eb36e74a1d" /><Relationship Type="http://schemas.openxmlformats.org/officeDocument/2006/relationships/notesSlide" Target="/ppt/notesSlides/notesSlide11.xml" Id="Rb541bdce510e47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fbb0c96ae43dd" /><Relationship Type="http://schemas.openxmlformats.org/officeDocument/2006/relationships/image" Target="/ppt/media/image12.png" Id="Rcfc2af4acfce40de" /><Relationship Type="http://schemas.openxmlformats.org/officeDocument/2006/relationships/notesSlide" Target="/ppt/notesSlides/notesSlide12.xml" Id="R0b36adf28def4e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947d5ddcf464e" /><Relationship Type="http://schemas.openxmlformats.org/officeDocument/2006/relationships/image" Target="/ppt/media/image13.png" Id="R4194f3c0e3ae4b84" /><Relationship Type="http://schemas.openxmlformats.org/officeDocument/2006/relationships/notesSlide" Target="/ppt/notesSlides/notesSlide13.xml" Id="R232b0813551d4e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489a0b0c94343" /><Relationship Type="http://schemas.openxmlformats.org/officeDocument/2006/relationships/notesSlide" Target="/ppt/notesSlides/notesSlide14.xml" Id="R654d04e11aa548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2428b22b64e4f" /><Relationship Type="http://schemas.openxmlformats.org/officeDocument/2006/relationships/image" Target="/ppt/media/image14.png" Id="R17108adf57834bcb" /><Relationship Type="http://schemas.openxmlformats.org/officeDocument/2006/relationships/notesSlide" Target="/ppt/notesSlides/notesSlide15.xml" Id="R54181aa2d713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1059C-AF4B-4E0F-8D60-CCEE733B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TirGeo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D5AB2-1B81-4257-AEFB-A628ECB4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Civil operations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B1662-0169-43F8-9A6F-B381F77A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74151"/>
                </a:solidFill>
              </a:defRPr>
            </a:pPr>
            <a:r>
              <a:rPr sz="1875" b="0">
                <a:solidFill>
                  <a:srgbClr val="374151"/>
                </a:solidFill>
              </a:rPr>
              <a:t>A field-to-office system for timecards, HSEQ, plant, chainage, payroll, commercial controls and audit-ready project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6B96B-1E6E-4A22-A775-2DE7C12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Current product walkthrough and roadmap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2129f3b7d4cca"/>
          <a:srcRect xmlns:a="http://schemas.openxmlformats.org/drawingml/2006/main" l="153" t="0" r="1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00050"/>
            <a:ext cx="495300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4dd9b2ada45d1"/>
          <a:srcRect xmlns:a="http://schemas.openxmlformats.org/drawingml/2006/main" l="90" t="0" r="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3695700"/>
            <a:ext cx="4229100" cy="264795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3E0FA-16DD-40AA-A24D-1DBE5FBA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"/>
            <a:ext cx="19050" cy="596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7A4EC-E54D-403D-93CE-489B89B3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97BE0-667E-48DD-9CAB-3C376DF1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00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4E6AB-25A2-41C3-AE24-89857C4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2A154-863D-4E49-9B08-772D8942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Civil jobs lose margin when field records and cost records drift apart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B7481-B416-4C76-B320-58CBBEE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BD9E2-2B9C-43F8-BE19-65D06132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EB27E-B49F-46E7-B314-F722E3E3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97954-1F68-43AF-9294-64D57BA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Project cost visibility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5A3F2-5490-4BD8-A00C-61E80C42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71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Labour, plant, materials, dockets, accruals and forecast risks need to land against the right project and cost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FB68C-763C-46B9-8BD5-63500189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Field adoption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62DDA-F4ED-4E47-B0E0-526D1DDB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4171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Workers need simple screens, obvious create buttons, and drill-down detail only when they ask for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989D0-18A3-4810-A4DD-2D11022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20710-C4D2-463C-A341-498012D0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171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Civil companies need signatures, photos, decisions and old records retained for later disputes, audits and lookups.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DDDEF-CF59-4F1B-9CC9-E00E4B79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5219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6939F-3C29-4F9F-8232-B796C19E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TirGeo's 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95533-34E3-46C7-96E9-9BE4CB3F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Keep the site team moving, while giving the office a structured, auditable record of cost, risk, labour and commercial position.</a:t>
            </a:r>
          </a:p>
        </p:txBody>
      </p:sp>
    </p:spTree>
    <p:extLst>
      <p:ext uri="{BB962C8B-B14F-4D97-AF65-F5344CB8AC3E}">
        <p14:creationId xmlns:p14="http://schemas.microsoft.com/office/powerpoint/2010/main" val="828586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3E873-C031-498F-BB25-A12D1CF7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PRODUCT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09CDC-1404-4147-82E3-38474C6C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current platform covers the main civil operating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52AC7-F424-46AD-B368-1D37B9ED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4E192-8E26-4C20-A346-46275FF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FEEF1-4BFB-4564-8249-FEA0223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16A91-C648-438C-9547-AE52823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629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BF48D-7761-49B9-B86A-F811C6B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Operate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02D8A-3791-48DC-9242-6EC4ABC8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Projects, daily diary, dashboard and notifications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C8AD3-7782-4695-A10C-189F8727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4629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2A7E3-044F-4387-9CA5-F2BD36CF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HSEQ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54F74-B4F2-4D0A-8A7A-F2F666E5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Hazards, observations, inspections, permits, actions and safety sign-ons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21076-0265-4776-A511-A0EDC45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629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A9C03-C230-4FD6-82AF-8CED56A5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65184-34EF-4DF7-9564-AA8B5A1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Plant, pre-starts, photos, chainage, timecards and payroll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8AFD9-09F4-45A7-8D8F-AD76A45A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629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CEC82-9F83-4BE5-A376-D7760A21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Commercial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2885C-DAF3-48E5-8FFE-9518354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Tenders, claims, variations, cost plans, actuals and forecasts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09EA1-8B96-4B31-AB37-591D2BAF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One common account, role and section model controls who sees what across the whole system.</a:t>
            </a:r>
          </a:p>
        </p:txBody>
      </p:sp>
    </p:spTree>
    <p:extLst>
      <p:ext uri="{BB962C8B-B14F-4D97-AF65-F5344CB8AC3E}">
        <p14:creationId xmlns:p14="http://schemas.microsoft.com/office/powerpoint/2010/main" val="1806692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742A-3408-42CE-B9C1-D721D88E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SCREEN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A5492-224A-4A2C-B812-C5B2430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dashboard gives office and field users a practical starting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E9C10-C8CB-4807-8106-226EC6FC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D04D7-E8FD-46EE-96B4-A40CA5D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16DB3-F9F5-4846-9911-308D8CC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bdbb8939f4e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0025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B8762-51D1-4A08-98DF-4532EF8B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What users see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9F5A6-5CBC-45DD-BEE6-8E2B3AAE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High-level counts for projects, timecards, hazards and permits sit beside fast actions for the daily work people actually need to 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7A63C-BF68-44D8-9752-C40DA30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Notifications now live in the top bar on every page, with unread counts and a red dot, while users can handle items one by one or mark all as read.</a:t>
            </a:r>
          </a:p>
        </p:txBody>
      </p:sp>
    </p:spTree>
    <p:extLst>
      <p:ext uri="{BB962C8B-B14F-4D97-AF65-F5344CB8AC3E}">
        <p14:creationId xmlns:p14="http://schemas.microsoft.com/office/powerpoint/2010/main" val="2067408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1BA8B-DC1C-4D49-AAAD-20BD296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FIELD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5753-9AF6-47EB-AFB6-A22692A0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Worker screens keep create actions obvious and drill-downs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BBFAC-FEEB-408C-A5C7-D2F6EFD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41E0A-D732-4CF6-B3FC-E3432689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81BF8-9131-4BA1-A9F7-EBCCB3C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4700ece3e45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4310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76B53-2AAC-42EF-9389-B97DEE98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Designed for low-friction field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DBC58-4200-4971-AA7B-EB97DA6E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New timecard, register hazard and plant pre-start actions are prominent. Line items open full detail only when the user needs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D3CC5-9D2B-42ED-84F4-87EF68A1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The supervisor signing flow now checks the PIN before signature capture proceeds, reducing failed submissions and shared-device confusion.</a:t>
            </a:r>
          </a:p>
        </p:txBody>
      </p:sp>
    </p:spTree>
    <p:extLst>
      <p:ext uri="{BB962C8B-B14F-4D97-AF65-F5344CB8AC3E}">
        <p14:creationId xmlns:p14="http://schemas.microsoft.com/office/powerpoint/2010/main" val="1373772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D0671-FFC1-461F-90F3-BD86722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LABOUR AND PAYROLL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D89F5-A638-423C-9EDB-0833AD66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Timecards and payroll now support both simple selection and robust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A259B-4915-45A0-A9E3-021A39E9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C24C5-815E-461F-A078-57FF6BA2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E39F0-17FC-4845-953A-E80D0448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f28fb6dd64ae4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952625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13aeb064541f0"/>
          <a:srcRect xmlns:a="http://schemas.openxmlformats.org/drawingml/2006/main" l="0" t="12319" r="0" b="12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952625"/>
            <a:ext cx="544830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49046-2ED5-4B8D-9D1D-90A01C0C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Approvers can open the full timecard, sign, reject, or review detail from the same queue. Payroll exports can be built from approved cards using date ranges and explicit card selection.</a:t>
            </a:r>
          </a:p>
        </p:txBody>
      </p:sp>
    </p:spTree>
    <p:extLst>
      <p:ext uri="{BB962C8B-B14F-4D97-AF65-F5344CB8AC3E}">
        <p14:creationId xmlns:p14="http://schemas.microsoft.com/office/powerpoint/2010/main" val="1464559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B6CD9-961B-4593-9A26-3BD3401A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SAFETY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ABCC5-E3CD-46E1-9C1F-F33AE7E0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HSEQ work is structured without burying the site team in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68EB8-C23A-4FBC-938B-7EB5E466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C105-F5BD-4450-8423-20FCEE9E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F733E-963E-484A-A18A-469E327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bcd48840e4a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7AF73-652E-452F-8DDC-B0471D82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Current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11A9A-6698-4778-895F-FDC51609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Hazard register and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9CEE3-4751-4036-B034-90AE76B2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9D981-93F2-464B-A01E-70AF3D61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9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Safety observations and incidents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FC7AE-A7F0-4809-A2F8-69E6C13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67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7B4AE-4853-4950-8616-13085032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Inspections and corrective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D37D7-1D02-4FC3-9214-F191145C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C734B-8869-4C2C-A130-B820217F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57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Permits and safety document sign-ons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EF4E5-B618-4089-AB5C-2DA68290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0889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9ED8A-8634-4F3B-9500-5A811AE3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PLANT AND PRE-STARTS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8B0B8-919C-4E4D-A202-D22C1F70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Plant pre-starts connect equipment status, checklists and photo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96245-1396-4B7A-9F1D-F4305277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5F060-7F44-4CA1-A00B-D94184C3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0976B-3396-41A1-84FC-121CF522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c6ee835274e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BDEEF-D331-471D-B152-82D4AB6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Photos are treated as records, not decoration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8E32C-928E-4325-847E-83221DAB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Pre-start images should be stored in Vercel Blob and referenced from the record, which keeps the database lean while preserving the actual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FBC31-6B40-474A-BC99-FED83474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Future offline mode should queue image files locally on-device, upload on sync, then reconcile Blob URLs back to the inspection record.</a:t>
            </a:r>
          </a:p>
        </p:txBody>
      </p:sp>
    </p:spTree>
    <p:extLst>
      <p:ext uri="{BB962C8B-B14F-4D97-AF65-F5344CB8AC3E}">
        <p14:creationId xmlns:p14="http://schemas.microsoft.com/office/powerpoint/2010/main" val="1800915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CA5BB-8F24-488F-AB55-71E8104A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CHAINAGE AND FIELD 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2E337-F964-43F7-934B-A0D0D05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Chainage brings map-based work items into the same operational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CF0C9-125A-4AB8-9D0D-F2BB09A8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0F706-807B-462D-AEBB-3755D2C7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C6E21-49EA-4A2F-BB9B-A69AF6AA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6cd0b79544cc6"/>
          <a:srcRect xmlns:a="http://schemas.openxmlformats.org/drawingml/2006/main" l="13704" t="0" r="1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4310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887A7-ED65-453A-89CE-57D255C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The intended field behaviour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D06BA-274C-42E4-8CDF-618FB2B2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Users should pinch, zoom, pan and inspect the map like Google Maps, with work items placed against chainage and project geometry.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2483A-44FC-4ED0-8B07-6164BD12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This is especially useful for linear assets: roads, drainage, utilities, remediation zones and progressive work fronts.</a:t>
            </a:r>
          </a:p>
        </p:txBody>
      </p:sp>
    </p:spTree>
    <p:extLst>
      <p:ext uri="{BB962C8B-B14F-4D97-AF65-F5344CB8AC3E}">
        <p14:creationId xmlns:p14="http://schemas.microsoft.com/office/powerpoint/2010/main" val="234812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BB1FB-2871-4F82-98F1-1AB0A313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COST AND MARGIN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0FF26-3B1A-4357-A130-54977376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Commercial cost tracking turns daily project noise into margin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11122-4D6F-47B4-96AB-5B2AD261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AC9E7-035E-4610-BB57-7896BD2E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9615C-0BC9-4638-8ED3-8455B162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76e6aacd24c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4310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1C1B1-C077-40B3-9C38-4D8382DB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Implemented commercial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0A1A8-59D3-4C5A-BF40-339DB505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Cost plans and contingency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10A0C-E718-4DA6-BBA5-E7BF6DBB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D1CCC-0699-4F05-8D7C-3E6E6A7A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Actual and committed cost entries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EE0F8-08F6-4065-B9B8-36ABCD06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DA253-2B58-4255-B1A2-4532004D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Forecast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9D974-F792-4BC9-AD69-D580DE0B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5FBBF-F8C7-458E-9F83-3BC70F47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Margin status by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07DB2-453C-4FC9-AF6B-8668F7CC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31E44-35BB-401B-A69E-151A6592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Progress claims and variations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B2533-3F95-4484-A332-47F7BA6C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7515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4C7F4-C57C-4837-8869-15911F0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TENDERS AND DOCUMENTS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D4488-3669-452B-9BAB-8B29FBA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Tender document handling is becoming an auditable commercial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16E3C-04AF-43A0-AAA7-325AABCA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A3C24-6DA2-4478-BBBE-A5C60B37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2E402-8054-4CEB-B7B3-F9D9A072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366eb36e74a1d"/>
          <a:srcRect xmlns:a="http://schemas.openxmlformats.org/drawingml/2006/main" l="22945" t="0" r="22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943100"/>
            <a:ext cx="6286500" cy="3924300"/>
          </a:xfrm>
          <a:prstGeom xmlns:a="http://schemas.openxmlformats.org/drawingml/2006/main" prst="roundRect">
            <a:avLst>
              <a:gd name="adj" fmla="val 194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D5BD5-3EC1-4052-A41C-1B8A1A0E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6195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3426E-ACDF-4088-90F8-0B90860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Current behaviour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5E59D-0FBF-4E16-95D8-90D9040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2819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Users get a duplicate warning before re-uploading a tender document. Re-analysis resets active extracted progress, while historical requirements are superseded rather than deleted.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9C2EE-85E8-424C-8D6F-E0BC0B2C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2819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The PDF worker and server canvas fixes support Vercel deployment, so failed analysis can be surfaced clearly rather than looping the upload prompt.</a:t>
            </a:r>
          </a:p>
        </p:txBody>
      </p:sp>
    </p:spTree>
    <p:extLst>
      <p:ext uri="{BB962C8B-B14F-4D97-AF65-F5344CB8AC3E}">
        <p14:creationId xmlns:p14="http://schemas.microsoft.com/office/powerpoint/2010/main" val="4482986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839C5-551C-4BAA-B7D7-6C695B67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TRUST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47CD0-1723-4DE4-83BC-893D823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Security and audit choices are being built into everyday 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7103B-4A90-4129-B755-8F7D381B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31C7D-164F-40BB-8C3D-9D9FA3EC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49033-18EE-41D1-9B1A-8B03592D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2af4acfce40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6324600" cy="3952875"/>
          </a:xfrm>
          <a:prstGeom xmlns:a="http://schemas.openxmlformats.org/drawingml/2006/main" prst="roundRect">
            <a:avLst>
              <a:gd name="adj" fmla="val 192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D23C1-DFEF-4C19-9E27-112C3932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Role and section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7582B-BC75-4542-9D48-8EF40B40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Owners and admins manage who can see each module.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A2063-33F1-4882-8C9B-66AD4C53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Soft deactivation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0F6F1-3EBB-40D3-AF22-D7786F52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Users are deactivated instead of deleted, preventing broken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71B4D-E0C3-4D89-B25A-47425826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Audit-safe deletion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B7C16-4BFD-4E09-ACD1-9FBECBA9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Records and blobs are archived or superseded where history matters.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4FDA7-4740-44C3-BC65-EF20EBD8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PIN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14888-258E-4954-8613-BCB10CC9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Forgotten signing PINs can be reset by confirming the account password.</a:t>
            </a:r>
          </a:p>
        </p:txBody>
      </p:sp>
    </p:spTree>
    <p:extLst>
      <p:ext uri="{BB962C8B-B14F-4D97-AF65-F5344CB8AC3E}">
        <p14:creationId xmlns:p14="http://schemas.microsoft.com/office/powerpoint/2010/main" val="12634508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27101-4EC5-41A6-B409-62640938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1FB74-E168-4D1E-89FB-1EC333FD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roadmap should deepen civil-specific control, not add generic software clutter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83E13-231E-4B89-8E92-1BB898CB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08428-9349-41B1-A605-4DC7126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1936F-E585-4172-9B5A-6C6EBF2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4f3c0e3ae4b84"/>
          <a:stretch xmlns:a="http://schemas.openxmlformats.org/drawingml/2006/main"/>
        </p:blipFill>
        <p:spPr>
          <a:xfrm xmlns:a="http://schemas.openxmlformats.org/drawingml/2006/main">
            <a:off x="2114550" y="1847850"/>
            <a:ext cx="7010400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BAEE8-4F59-4EC0-86E9-A29E27CA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Priority should go to features that remove field friction, strengthen commercial confidence, and protect historical evidence.</a:t>
            </a:r>
          </a:p>
        </p:txBody>
      </p:sp>
    </p:spTree>
    <p:extLst>
      <p:ext uri="{BB962C8B-B14F-4D97-AF65-F5344CB8AC3E}">
        <p14:creationId xmlns:p14="http://schemas.microsoft.com/office/powerpoint/2010/main" val="14750600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52981-287D-4C2E-A9CD-B510D675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NEAR-TERM RELEASE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D7BB-3F11-403B-8042-17E4608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Recommended next build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CE47C-DB75-4BF2-98B7-933E05B5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786FD-ABEE-4EE8-8484-0911C014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FA4BC-2055-4DE6-B042-934FA620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74807-A87E-41E2-8858-AEBBA64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B5AFB-8D10-47DD-9D7E-8B022118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Offline capture and 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394D1-20B7-42AB-95F0-ADD9CFAD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Timecards, pre-start photos, hazards, observations and daily diary entries continue working on poor reception sites.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F016C-1D67-4BAF-A2FC-236C0FC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3C625-23AD-4CEE-AF98-093BB81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49750-20D8-4D3F-B4EB-837B34FA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Email notifications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45CA7-3359-4962-A8D5-53393A5D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Send approval, safety, tender and payroll alerts through a verified organisation mailbox.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676E2-7F94-40C4-8773-4CAEB65F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7D13C-6B6B-46FD-8A60-BABBF021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C4C76-2A0D-44B5-A64A-5A8A695D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Cost commitment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1C869-A27D-4D57-B7C5-199D6154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Purchase orders, delivery dockets, accruals and subcontractor claims flow into margin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48860-33A7-4969-9B7E-B4D763FC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D4750-5ED4-4443-B0A3-314D584E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77D99-AF58-4836-A1E7-89155BC1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Document register maturity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30ACD-47C0-46B7-8557-B2A4B1E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053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Drawing revisions, RFIs, submittals, addenda and tender clarifications become tracked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62259-9E43-420E-8C11-FCA90A4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2517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59A7D-18BB-45A7-B5B7-7E8F55D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TirGeo is shaping into the civil company's daily control room.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883F7-EDEA-41E7-876B-CFC9685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4151"/>
                </a:solidFill>
              </a:defRPr>
            </a:pPr>
            <a:r>
              <a:rPr sz="2100" b="0">
                <a:solidFill>
                  <a:srgbClr val="374151"/>
                </a:solidFill>
              </a:rPr>
              <a:t>The strongest next move is to make the field experience resilient offline, then tighten cost commitments, communications and document governance around the same audit-first record.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08adf57834bcb"/>
          <a:srcRect xmlns:a="http://schemas.openxmlformats.org/drawingml/2006/main" l="221" t="0" r="2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58100" y="3752850"/>
            <a:ext cx="3429000" cy="2152650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B7166-E30D-48EF-8218-E2ACC45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TirGeo civil operations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EBECA-0BF6-442E-ADF0-DFD683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0499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2026-07-22T14:23:06.2510000Z</dcterms:created>
  <dcterms:modified xsi:type="dcterms:W3CDTF">2026-07-22T14:23:06.2510000Z</dcterms:modified>
</coreProperties>
</file>